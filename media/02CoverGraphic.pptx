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1F45"/>
    <a:srgbClr val="F2EE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647"/>
    <p:restoredTop sz="94621"/>
  </p:normalViewPr>
  <p:slideViewPr>
    <p:cSldViewPr snapToGrid="0">
      <p:cViewPr>
        <p:scale>
          <a:sx n="74" d="100"/>
          <a:sy n="74" d="100"/>
        </p:scale>
        <p:origin x="1000" y="11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0407EB-7AA7-1FB7-31AA-C1A74907141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D150A20-844F-6998-39FE-B2B9256C5A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CE0FF0-171D-D9BA-E530-0F04191E45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403A5-B868-A743-A9C0-B255D29CB131}" type="datetimeFigureOut">
              <a:rPr lang="en-US" smtClean="0"/>
              <a:t>6/24/26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483595-5C82-A984-3C43-DDE1D8018A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E90CE6-F312-B84F-47AA-FE65DF1F48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975C5-D1C2-5146-B0FF-04D2F8A039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77470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70E8E6-5353-C435-A41D-684B93D4A4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FC3548-DAA6-2319-6934-5F46E8CF5D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C303DD-1239-E62B-5845-5F1EF5E744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403A5-B868-A743-A9C0-B255D29CB131}" type="datetimeFigureOut">
              <a:rPr lang="en-US" smtClean="0"/>
              <a:t>6/24/26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C2842E-5D7D-7E20-599E-9F27381374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90DE03-4BC6-4A30-E371-022D27831B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975C5-D1C2-5146-B0FF-04D2F8A039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28416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1524F6-D995-9D26-3004-6C5C010706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1CA0D4-B49B-4109-CCC4-478CAB3B7C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4975B6-1537-FEF3-2B00-7A8EBFAEF2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403A5-B868-A743-A9C0-B255D29CB131}" type="datetimeFigureOut">
              <a:rPr lang="en-US" smtClean="0"/>
              <a:t>6/24/26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A905C2-B5CD-2B46-F26F-347624D4EF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6D4D5F-6AEE-2BD3-A881-B6619C5C0B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975C5-D1C2-5146-B0FF-04D2F8A039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08509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E4C566-37FF-B99A-431C-C99301FE15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C9FE0C-942A-EB73-EC30-C8775A7EBA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88D0BDD-0F0D-1597-8D24-0ABA7DEC71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96899E-1632-D445-43F8-FE42692FBA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403A5-B868-A743-A9C0-B255D29CB131}" type="datetimeFigureOut">
              <a:rPr lang="en-US" smtClean="0"/>
              <a:t>6/24/26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A020F82-7A87-2E68-8F35-4A4098243E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4C3750-ECDA-07BB-CEE3-48C75B904D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975C5-D1C2-5146-B0FF-04D2F8A039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4266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5365EB-BA15-F597-138A-CE357774C3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2D782A-F208-7F17-FBEA-7FEFCF6567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3C6D191-5575-D6CD-4BE7-1FD9B486C8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676C859-47C8-DC24-30A4-A67AF2C93A0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067114A-E6C3-F935-C397-50D4556C40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6267D5B-957E-6AB5-8E88-B6E5F3C294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403A5-B868-A743-A9C0-B255D29CB131}" type="datetimeFigureOut">
              <a:rPr lang="en-US" smtClean="0"/>
              <a:t>6/24/26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6C35936-C8DC-0783-485F-9F64F7B93D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28E5522-D73B-9BD4-346A-AD8767380A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975C5-D1C2-5146-B0FF-04D2F8A039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54861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AFDF8A-ABFD-631B-0D16-766A5884D3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F454359-4464-5C6D-00E0-A4A8D0B53E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403A5-B868-A743-A9C0-B255D29CB131}" type="datetimeFigureOut">
              <a:rPr lang="en-US" smtClean="0"/>
              <a:t>6/24/26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4666696-CB98-6379-789F-60E540FF9C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2DEE3F3-2EF3-1014-6C4D-7B11AA4AA1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975C5-D1C2-5146-B0FF-04D2F8A039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21053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1AF005F-95CD-7C80-3618-ECB4EC08CB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403A5-B868-A743-A9C0-B255D29CB131}" type="datetimeFigureOut">
              <a:rPr lang="en-US" smtClean="0"/>
              <a:t>6/24/26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B7C2744-A2B3-4097-EC88-C91682CD72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9949F4-3258-A611-30C0-D2DBA412BC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975C5-D1C2-5146-B0FF-04D2F8A039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98877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5A2B15-6908-62D8-0D12-39289637BD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5430FE-F429-80CA-3536-DB30F48138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C2CC75-60CE-7428-45D0-C217EDA4A7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61FB2B-5170-6EFC-09EF-89C88DBF36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403A5-B868-A743-A9C0-B255D29CB131}" type="datetimeFigureOut">
              <a:rPr lang="en-US" smtClean="0"/>
              <a:t>6/24/26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98B395-491B-69CF-1A7D-F6C8A15B2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E46C69-95F2-0C0F-CB22-F34BEEA499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975C5-D1C2-5146-B0FF-04D2F8A039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61532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8305B4-8D90-9A7A-61FC-D6F620252C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84E740A-144D-930F-D7A8-A2987C4E564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6A07A0-F470-C4D6-90CA-880991133C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65DDA8-74B8-A4CB-239A-BFB077DCFF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403A5-B868-A743-A9C0-B255D29CB131}" type="datetimeFigureOut">
              <a:rPr lang="en-US" smtClean="0"/>
              <a:t>6/24/26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273E8A-252A-E1BB-153F-E51644ADBF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001F43-2D05-45CC-4961-01054ED60D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975C5-D1C2-5146-B0FF-04D2F8A039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04710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45AC2B-5B56-5B60-E29E-4195A93B7E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E43EF9D-A438-2858-D324-DB48DA94E1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7AB65C-FB9D-9300-92B7-83F3E21F08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403A5-B868-A743-A9C0-B255D29CB131}" type="datetimeFigureOut">
              <a:rPr lang="en-US" smtClean="0"/>
              <a:t>6/24/26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C8355E-FE2B-35E2-EF54-5BD8A9F70B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B2AA41-2B0D-9543-298E-91877BB6C8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975C5-D1C2-5146-B0FF-04D2F8A039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22440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D179895-5C3B-078B-5C04-1B434D46113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B056BFD-6A48-1947-9222-41B55D8C1D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C49BF0-C8EA-BBA9-C379-FB95D4D039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2403A5-B868-A743-A9C0-B255D29CB131}" type="datetimeFigureOut">
              <a:rPr lang="en-US" smtClean="0"/>
              <a:t>6/24/26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EF3CD9-0C5B-A16F-9711-AA7977C93B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E0CEDC-CDC7-7B17-21D5-AAD26551EB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6975C5-D1C2-5146-B0FF-04D2F8A039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76474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239231C-2E9B-3A80-E512-E6AAA6805A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CC539E-B831-5D6F-3749-9FE036E16D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AC593B-62AC-5718-1A1C-5663190A89C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F2403A5-B868-A743-A9C0-B255D29CB131}" type="datetimeFigureOut">
              <a:rPr lang="en-US" smtClean="0"/>
              <a:t>6/24/26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22FD8A-FA95-6195-4C08-FFD2D12374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224C9F-6CAE-C5E0-CCD3-BEF35DB550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E6975C5-D1C2-5146-B0FF-04D2F8A039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00367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blue robot standing on a white surface&#10;&#10;AI-generated content may be incorrect.">
            <a:extLst>
              <a:ext uri="{FF2B5EF4-FFF2-40B4-BE49-F238E27FC236}">
                <a16:creationId xmlns:a16="http://schemas.microsoft.com/office/drawing/2014/main" id="{F49A0B1F-FDD8-0125-F095-2EF9482E25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0"/>
            <a:ext cx="9144000" cy="6858000"/>
          </a:xfrm>
          <a:prstGeom prst="rect">
            <a:avLst/>
          </a:prstGeom>
        </p:spPr>
      </p:pic>
      <p:pic>
        <p:nvPicPr>
          <p:cNvPr id="11" name="Picture 10" descr="A blue and white sign&#10;&#10;AI-generated content may be incorrect.">
            <a:extLst>
              <a:ext uri="{FF2B5EF4-FFF2-40B4-BE49-F238E27FC236}">
                <a16:creationId xmlns:a16="http://schemas.microsoft.com/office/drawing/2014/main" id="{5853CCFD-1584-4BBB-B848-890F9A9528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08683" y="6400943"/>
            <a:ext cx="959317" cy="457057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CBA51A3E-BFA0-FE71-DF63-146BC3020A74}"/>
              </a:ext>
            </a:extLst>
          </p:cNvPr>
          <p:cNvSpPr txBox="1"/>
          <p:nvPr/>
        </p:nvSpPr>
        <p:spPr>
          <a:xfrm>
            <a:off x="7521388" y="1772711"/>
            <a:ext cx="14791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F2EEEB"/>
                </a:solidFill>
                <a:latin typeface="JetBrains Mono Medium" panose="02000009000000000000" pitchFamily="2" charset="0"/>
                <a:cs typeface="JetBrains Mono Medium" panose="02000009000000000000" pitchFamily="2" charset="0"/>
              </a:rPr>
              <a:t>VIRTUAL WALL CONSTRAINT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3C3BB232-D1AE-043E-F4CD-3332B155F25B}"/>
              </a:ext>
            </a:extLst>
          </p:cNvPr>
          <p:cNvGrpSpPr/>
          <p:nvPr/>
        </p:nvGrpSpPr>
        <p:grpSpPr>
          <a:xfrm>
            <a:off x="8570259" y="2040614"/>
            <a:ext cx="430306" cy="106097"/>
            <a:chOff x="8740962" y="1882626"/>
            <a:chExt cx="430306" cy="106097"/>
          </a:xfrm>
        </p:grpSpPr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1A3F9DFA-04EF-CAD8-EE55-41B697B3B33A}"/>
                </a:ext>
              </a:extLst>
            </p:cNvPr>
            <p:cNvCxnSpPr/>
            <p:nvPr/>
          </p:nvCxnSpPr>
          <p:spPr>
            <a:xfrm>
              <a:off x="8740962" y="1935675"/>
              <a:ext cx="430306" cy="0"/>
            </a:xfrm>
            <a:prstGeom prst="line">
              <a:avLst/>
            </a:prstGeom>
            <a:ln>
              <a:solidFill>
                <a:srgbClr val="F2EEE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42B29B0C-58BA-120F-470D-FFAA0E48E340}"/>
                </a:ext>
              </a:extLst>
            </p:cNvPr>
            <p:cNvSpPr/>
            <p:nvPr/>
          </p:nvSpPr>
          <p:spPr>
            <a:xfrm>
              <a:off x="8740962" y="1882626"/>
              <a:ext cx="106097" cy="106097"/>
            </a:xfrm>
            <a:prstGeom prst="ellipse">
              <a:avLst/>
            </a:prstGeom>
            <a:solidFill>
              <a:srgbClr val="F2EEEB"/>
            </a:solidFill>
            <a:ln>
              <a:solidFill>
                <a:srgbClr val="F2EEE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4F9FEAA4-745B-EF37-C7BB-B0F4813F8F5F}"/>
              </a:ext>
            </a:extLst>
          </p:cNvPr>
          <p:cNvSpPr txBox="1"/>
          <p:nvPr/>
        </p:nvSpPr>
        <p:spPr>
          <a:xfrm>
            <a:off x="3110864" y="3402469"/>
            <a:ext cx="147917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01F45"/>
                </a:solidFill>
                <a:latin typeface="JetBrains Mono Medium" panose="02000009000000000000" pitchFamily="2" charset="0"/>
                <a:cs typeface="JetBrains Mono Medium" panose="02000009000000000000" pitchFamily="2" charset="0"/>
              </a:rPr>
              <a:t>FRICTION PAD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EDB97A12-9888-4D58-5AD7-B85FCA5A68B1}"/>
              </a:ext>
            </a:extLst>
          </p:cNvPr>
          <p:cNvGrpSpPr/>
          <p:nvPr/>
        </p:nvGrpSpPr>
        <p:grpSpPr>
          <a:xfrm rot="5400000">
            <a:off x="3557536" y="3841572"/>
            <a:ext cx="430306" cy="106097"/>
            <a:chOff x="8740962" y="1882626"/>
            <a:chExt cx="430306" cy="106097"/>
          </a:xfrm>
        </p:grpSpPr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8A7EFE1C-F607-FEAF-0A20-3CA28CB9D3AC}"/>
                </a:ext>
              </a:extLst>
            </p:cNvPr>
            <p:cNvCxnSpPr/>
            <p:nvPr/>
          </p:nvCxnSpPr>
          <p:spPr>
            <a:xfrm>
              <a:off x="8740962" y="1935675"/>
              <a:ext cx="430306" cy="0"/>
            </a:xfrm>
            <a:prstGeom prst="line">
              <a:avLst/>
            </a:prstGeom>
            <a:ln>
              <a:solidFill>
                <a:srgbClr val="F2EEE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4FCD7BB3-8C48-44A3-D781-CAF9D1871F4F}"/>
                </a:ext>
              </a:extLst>
            </p:cNvPr>
            <p:cNvSpPr/>
            <p:nvPr/>
          </p:nvSpPr>
          <p:spPr>
            <a:xfrm>
              <a:off x="8740962" y="1882626"/>
              <a:ext cx="106097" cy="106097"/>
            </a:xfrm>
            <a:prstGeom prst="ellipse">
              <a:avLst/>
            </a:prstGeom>
            <a:solidFill>
              <a:srgbClr val="F2EEEB"/>
            </a:solidFill>
            <a:ln>
              <a:solidFill>
                <a:srgbClr val="F2EEE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001F45"/>
                </a:solidFill>
              </a:endParaRPr>
            </a:p>
          </p:txBody>
        </p:sp>
      </p:grpSp>
      <p:sp>
        <p:nvSpPr>
          <p:cNvPr id="24" name="TextBox 23">
            <a:extLst>
              <a:ext uri="{FF2B5EF4-FFF2-40B4-BE49-F238E27FC236}">
                <a16:creationId xmlns:a16="http://schemas.microsoft.com/office/drawing/2014/main" id="{64347144-DD62-327A-4736-2808BEE0D72E}"/>
              </a:ext>
            </a:extLst>
          </p:cNvPr>
          <p:cNvSpPr txBox="1"/>
          <p:nvPr/>
        </p:nvSpPr>
        <p:spPr>
          <a:xfrm>
            <a:off x="8260976" y="4109774"/>
            <a:ext cx="19467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01F45"/>
                </a:solidFill>
                <a:latin typeface="JetBrains Mono Medium" panose="02000009000000000000" pitchFamily="2" charset="0"/>
                <a:cs typeface="JetBrains Mono Medium" panose="02000009000000000000" pitchFamily="2" charset="0"/>
              </a:rPr>
              <a:t>PHYSICS BLOCKS (Mass / Inertia) 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6B013705-B506-F99A-12BE-F5A179D8D72C}"/>
              </a:ext>
            </a:extLst>
          </p:cNvPr>
          <p:cNvGrpSpPr/>
          <p:nvPr/>
        </p:nvGrpSpPr>
        <p:grpSpPr>
          <a:xfrm rot="5400000">
            <a:off x="8718933" y="4785729"/>
            <a:ext cx="430306" cy="106097"/>
            <a:chOff x="8740962" y="1882626"/>
            <a:chExt cx="430306" cy="106097"/>
          </a:xfrm>
        </p:grpSpPr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54721C8F-4BDB-2285-FFAA-129C7A010D67}"/>
                </a:ext>
              </a:extLst>
            </p:cNvPr>
            <p:cNvCxnSpPr/>
            <p:nvPr/>
          </p:nvCxnSpPr>
          <p:spPr>
            <a:xfrm>
              <a:off x="8740962" y="1935675"/>
              <a:ext cx="430306" cy="0"/>
            </a:xfrm>
            <a:prstGeom prst="line">
              <a:avLst/>
            </a:prstGeom>
            <a:ln>
              <a:solidFill>
                <a:srgbClr val="F2EEE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58103AD1-2AE1-0C0E-9E1B-9EF0601953C4}"/>
                </a:ext>
              </a:extLst>
            </p:cNvPr>
            <p:cNvSpPr/>
            <p:nvPr/>
          </p:nvSpPr>
          <p:spPr>
            <a:xfrm>
              <a:off x="8740962" y="1882626"/>
              <a:ext cx="106097" cy="106097"/>
            </a:xfrm>
            <a:prstGeom prst="ellipse">
              <a:avLst/>
            </a:prstGeom>
            <a:solidFill>
              <a:srgbClr val="F2EEEB"/>
            </a:solidFill>
            <a:ln>
              <a:solidFill>
                <a:srgbClr val="F2EEE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001F45"/>
                </a:solidFill>
              </a:endParaRPr>
            </a:p>
          </p:txBody>
        </p:sp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id="{9DCB01A2-5C2F-9B0C-BCC5-617096AC768B}"/>
              </a:ext>
            </a:extLst>
          </p:cNvPr>
          <p:cNvSpPr txBox="1"/>
          <p:nvPr/>
        </p:nvSpPr>
        <p:spPr>
          <a:xfrm>
            <a:off x="4921381" y="5822314"/>
            <a:ext cx="147917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rgbClr val="001F45"/>
                </a:solidFill>
                <a:latin typeface="JetBrains Mono Medium" panose="02000009000000000000" pitchFamily="2" charset="0"/>
                <a:cs typeface="JetBrains Mono Medium" panose="02000009000000000000" pitchFamily="2" charset="0"/>
              </a:rPr>
              <a:t>WATER DYNAMICS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8F9CBEF7-4E3F-8BD9-907C-0EEE76F4CB69}"/>
              </a:ext>
            </a:extLst>
          </p:cNvPr>
          <p:cNvGrpSpPr/>
          <p:nvPr/>
        </p:nvGrpSpPr>
        <p:grpSpPr>
          <a:xfrm rot="10800000">
            <a:off x="4276034" y="5907766"/>
            <a:ext cx="430306" cy="106097"/>
            <a:chOff x="8740962" y="1882626"/>
            <a:chExt cx="430306" cy="106097"/>
          </a:xfrm>
        </p:grpSpPr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8CA79A31-B658-2905-1D48-DEB69CF477EF}"/>
                </a:ext>
              </a:extLst>
            </p:cNvPr>
            <p:cNvCxnSpPr/>
            <p:nvPr/>
          </p:nvCxnSpPr>
          <p:spPr>
            <a:xfrm>
              <a:off x="8740962" y="1935675"/>
              <a:ext cx="430306" cy="0"/>
            </a:xfrm>
            <a:prstGeom prst="line">
              <a:avLst/>
            </a:prstGeom>
            <a:ln>
              <a:solidFill>
                <a:srgbClr val="F2EEEB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7DD8D312-256C-E667-012E-CA36520D4969}"/>
                </a:ext>
              </a:extLst>
            </p:cNvPr>
            <p:cNvSpPr/>
            <p:nvPr/>
          </p:nvSpPr>
          <p:spPr>
            <a:xfrm>
              <a:off x="8740962" y="1882626"/>
              <a:ext cx="106097" cy="106097"/>
            </a:xfrm>
            <a:prstGeom prst="ellipse">
              <a:avLst/>
            </a:prstGeom>
            <a:solidFill>
              <a:srgbClr val="F2EEEB"/>
            </a:solidFill>
            <a:ln>
              <a:solidFill>
                <a:srgbClr val="F2EEE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001F45"/>
                </a:solidFill>
              </a:endParaRPr>
            </a:p>
          </p:txBody>
        </p:sp>
      </p:grpSp>
      <p:sp>
        <p:nvSpPr>
          <p:cNvPr id="32" name="TextBox 31">
            <a:extLst>
              <a:ext uri="{FF2B5EF4-FFF2-40B4-BE49-F238E27FC236}">
                <a16:creationId xmlns:a16="http://schemas.microsoft.com/office/drawing/2014/main" id="{F20611BF-B1B2-3116-1F23-AF9995D8B0E8}"/>
              </a:ext>
            </a:extLst>
          </p:cNvPr>
          <p:cNvSpPr txBox="1"/>
          <p:nvPr/>
        </p:nvSpPr>
        <p:spPr>
          <a:xfrm>
            <a:off x="1690270" y="129979"/>
            <a:ext cx="3231112" cy="1384995"/>
          </a:xfrm>
          <a:prstGeom prst="rect">
            <a:avLst/>
          </a:prstGeom>
          <a:solidFill>
            <a:srgbClr val="001F45"/>
          </a:solidFill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2EEEB"/>
                </a:solidFill>
                <a:latin typeface="Space Grotesk" pitchFamily="2" charset="77"/>
                <a:cs typeface="Space Grotesk" pitchFamily="2" charset="77"/>
              </a:rPr>
              <a:t>MAKING VIRTUAL OBJECTS FEEL PHYSICAL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EE3FD60-497B-9A60-6E94-417471A791C3}"/>
              </a:ext>
            </a:extLst>
          </p:cNvPr>
          <p:cNvSpPr txBox="1"/>
          <p:nvPr/>
        </p:nvSpPr>
        <p:spPr>
          <a:xfrm>
            <a:off x="1689483" y="1692254"/>
            <a:ext cx="32303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i="1" dirty="0">
                <a:solidFill>
                  <a:srgbClr val="001F45"/>
                </a:solidFill>
                <a:latin typeface="JetBrains Mono Medium" panose="02000009000000000000" pitchFamily="2" charset="0"/>
                <a:cs typeface="JetBrains Mono Medium" panose="02000009000000000000" pitchFamily="2" charset="0"/>
              </a:rPr>
              <a:t>Towards building a virtual haptic playground for </a:t>
            </a:r>
            <a:r>
              <a:rPr lang="en-US" sz="1200" i="1" dirty="0" err="1">
                <a:solidFill>
                  <a:srgbClr val="001F45"/>
                </a:solidFill>
                <a:latin typeface="JetBrains Mono Medium" panose="02000009000000000000" pitchFamily="2" charset="0"/>
                <a:cs typeface="JetBrains Mono Medium" panose="02000009000000000000" pitchFamily="2" charset="0"/>
              </a:rPr>
              <a:t>LeRobot</a:t>
            </a:r>
            <a:r>
              <a:rPr lang="en-US" sz="1200" i="1" dirty="0">
                <a:solidFill>
                  <a:srgbClr val="001F45"/>
                </a:solidFill>
                <a:latin typeface="JetBrains Mono Medium" panose="02000009000000000000" pitchFamily="2" charset="0"/>
                <a:cs typeface="JetBrains Mono Medium" panose="02000009000000000000" pitchFamily="2" charset="0"/>
              </a:rPr>
              <a:t> SO101 as a digital twin within Blender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1CC72CBE-329B-DB80-AE94-8866EF928C4F}"/>
              </a:ext>
            </a:extLst>
          </p:cNvPr>
          <p:cNvSpPr/>
          <p:nvPr/>
        </p:nvSpPr>
        <p:spPr>
          <a:xfrm>
            <a:off x="1691058" y="146654"/>
            <a:ext cx="3230323" cy="2411676"/>
          </a:xfrm>
          <a:prstGeom prst="rect">
            <a:avLst/>
          </a:prstGeom>
          <a:noFill/>
          <a:ln>
            <a:solidFill>
              <a:srgbClr val="001F4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61957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34</Words>
  <Application>Microsoft Macintosh PowerPoint</Application>
  <PresentationFormat>Widescreen</PresentationFormat>
  <Paragraphs>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JetBrains Mono Medium</vt:lpstr>
      <vt:lpstr>Space Grotesk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Aiyush Gupta</dc:creator>
  <cp:lastModifiedBy>Aiyush Gupta</cp:lastModifiedBy>
  <cp:revision>1</cp:revision>
  <dcterms:created xsi:type="dcterms:W3CDTF">2026-06-23T23:23:51Z</dcterms:created>
  <dcterms:modified xsi:type="dcterms:W3CDTF">2026-06-23T23:37:16Z</dcterms:modified>
</cp:coreProperties>
</file>